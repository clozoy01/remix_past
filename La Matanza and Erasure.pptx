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12" r:id="rId1"/>
  </p:sldMasterIdLst>
  <p:notesMasterIdLst>
    <p:notesMasterId r:id="rId6"/>
  </p:notesMasterIdLst>
  <p:sldIdLst>
    <p:sldId id="256" r:id="rId2"/>
    <p:sldId id="257" r:id="rId3"/>
    <p:sldId id="258" r:id="rId4"/>
    <p:sldId id="260" r:id="rId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1D086A6B-C0C5-4FCF-AF7A-8738DE0FE9CD}" v="1" dt="2026-04-23T05:21:26.217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59" d="100"/>
          <a:sy n="59" d="100"/>
        </p:scale>
        <p:origin x="964" y="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12" Type="http://schemas.microsoft.com/office/2015/10/relationships/revisionInfo" Target="revisionInfo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11" Type="http://schemas.microsoft.com/office/2016/11/relationships/changesInfo" Target="changesInfos/changesInfo1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Lozoya, Carlos" userId="3b9d3800-2588-4c3e-adac-650a442ba4db" providerId="ADAL" clId="{1D086A6B-C0C5-4FCF-AF7A-8738DE0FE9CD}"/>
    <pc:docChg chg="delSld">
      <pc:chgData name="Lozoya, Carlos" userId="3b9d3800-2588-4c3e-adac-650a442ba4db" providerId="ADAL" clId="{1D086A6B-C0C5-4FCF-AF7A-8738DE0FE9CD}" dt="2026-04-23T15:49:42.599" v="0" actId="2696"/>
      <pc:docMkLst>
        <pc:docMk/>
      </pc:docMkLst>
      <pc:sldChg chg="del">
        <pc:chgData name="Lozoya, Carlos" userId="3b9d3800-2588-4c3e-adac-650a442ba4db" providerId="ADAL" clId="{1D086A6B-C0C5-4FCF-AF7A-8738DE0FE9CD}" dt="2026-04-23T15:49:42.599" v="0" actId="2696"/>
        <pc:sldMkLst>
          <pc:docMk/>
          <pc:sldMk cId="995810300" sldId="259"/>
        </pc:sldMkLst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1389282-6146-4BB2-B350-DE6B1EC91E76}" type="datetimeFigureOut">
              <a:rPr lang="en-US" smtClean="0"/>
              <a:t>4/23/2026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7BA7175-4F60-4103-83D6-CF616F418F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6407004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Wiped out indigenous land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7BA7175-4F60-4103-83D6-CF616F418F67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5260624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1A6A15-6E39-4FFA-B5DC-89EB633E6DC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638300" y="1371600"/>
            <a:ext cx="8127574" cy="2736443"/>
          </a:xfrm>
        </p:spPr>
        <p:txBody>
          <a:bodyPr anchor="b">
            <a:normAutofit/>
          </a:bodyPr>
          <a:lstStyle>
            <a:lvl1pPr algn="l">
              <a:defRPr sz="44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A169311-3201-45EC-B973-82EC27DA529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638300" y="4299358"/>
            <a:ext cx="8127574" cy="1187042"/>
          </a:xfrm>
        </p:spPr>
        <p:txBody>
          <a:bodyPr>
            <a:normAutofit/>
          </a:bodyPr>
          <a:lstStyle>
            <a:lvl1pPr marL="0" indent="0" algn="l">
              <a:buNone/>
              <a:defRPr sz="1800" cap="all" spc="200" baseline="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29AE4B9-EDEF-4A2C-B464-332C5C624F1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D41BCC-AD73-4203-A5A6-E62EB28B0FE6}" type="datetimeFigureOut">
              <a:rPr lang="en-US" smtClean="0"/>
              <a:t>4/23/2026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2B4C951-4861-4549-8E72-CEECA89E4D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F2E1401-5637-41BC-AC21-891056450A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37F8FC-4B86-4690-8888-22AB2F781BE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3647047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2B3747-9ADB-4FCC-89CE-6E84D13475D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DAEC9C6-5D7D-4249-8820-D4C99D0AE82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21F35F7-46A1-40A9-ACD7-C4923992674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D41BCC-AD73-4203-A5A6-E62EB28B0FE6}" type="datetimeFigureOut">
              <a:rPr lang="en-US" smtClean="0"/>
              <a:t>4/23/2026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A345637-B780-4999-A87D-0039BC5A94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CD9777F-E471-4CC5-B27B-137CB061E2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37F8FC-4B86-4690-8888-22AB2F781BE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7013555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BDCB1D-064E-46DE-B533-7CDA331EEB6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38300" y="2748406"/>
            <a:ext cx="8115300" cy="2737994"/>
          </a:xfrm>
        </p:spPr>
        <p:txBody>
          <a:bodyPr anchor="b">
            <a:normAutofit/>
          </a:bodyPr>
          <a:lstStyle>
            <a:lvl1pPr>
              <a:defRPr sz="54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FD222C0-D002-4A94-BAFF-FD1A1CCA64C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638300" y="1371600"/>
            <a:ext cx="8115300" cy="1333272"/>
          </a:xfrm>
        </p:spPr>
        <p:txBody>
          <a:bodyPr>
            <a:normAutofit/>
          </a:bodyPr>
          <a:lstStyle>
            <a:lvl1pPr marL="0" indent="0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53E7D7E-EC9F-4AA5-A559-EF556C6AD5E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D41BCC-AD73-4203-A5A6-E62EB28B0FE6}" type="datetimeFigureOut">
              <a:rPr lang="en-US" smtClean="0"/>
              <a:t>4/23/2026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677A8EE-88C1-400C-A23F-656DC76B95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3C245A4-F9C6-44E9-929F-78C657C8B6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37F8FC-4B86-4690-8888-22AB2F781BE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5633811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0DF34F-B65E-4FA0-87E8-8890F482B38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38299" y="685800"/>
            <a:ext cx="9382348" cy="1371600"/>
          </a:xfr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D625A67-10CA-4531-93E1-39892C087E0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1638297" y="2057400"/>
            <a:ext cx="4553103" cy="4125038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622BE36-0CAF-4D92-9AC2-9249276B96F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477000" y="2057400"/>
            <a:ext cx="4543647" cy="41250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3C36479-3B04-43BD-9B59-DBF6CA2BF81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D41BCC-AD73-4203-A5A6-E62EB28B0FE6}" type="datetimeFigureOut">
              <a:rPr lang="en-US" smtClean="0"/>
              <a:t>4/23/2026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CFD4449-57DB-41D2-B49E-694E7C13FA7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E60CC2C-E50B-47D2-B62F-D5C4C9CDA7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37F8FC-4B86-4690-8888-22AB2F781BE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4944214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48530B-D0F2-4FC4-A10F-1E54EF82C8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38300" y="755118"/>
            <a:ext cx="9378304" cy="1222765"/>
          </a:xfr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868865C-9D06-4FA3-BA3D-7187BB41B57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638300" y="2034147"/>
            <a:ext cx="4529391" cy="681591"/>
          </a:xfrm>
        </p:spPr>
        <p:txBody>
          <a:bodyPr anchor="b">
            <a:normAutofit/>
          </a:bodyPr>
          <a:lstStyle>
            <a:lvl1pPr marL="0" indent="0">
              <a:buNone/>
              <a:defRPr sz="1800" b="1" cap="all" spc="200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F656570-8F97-4B7E-A805-96925AC4781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1638300" y="2748405"/>
            <a:ext cx="4529391" cy="3441257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057EF54-F63F-4730-99EE-0E472578F51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487213" y="2034147"/>
            <a:ext cx="4529391" cy="681591"/>
          </a:xfrm>
        </p:spPr>
        <p:txBody>
          <a:bodyPr anchor="b">
            <a:normAutofit/>
          </a:bodyPr>
          <a:lstStyle>
            <a:lvl1pPr marL="0" indent="0">
              <a:buNone/>
              <a:defRPr sz="1800" b="1" cap="all" spc="200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908453E-B012-4889-9F49-E1351532ADF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487213" y="2748405"/>
            <a:ext cx="4529391" cy="3441257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E89FC47A-8514-4C98-B1BE-FF6CC666C58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D41BCC-AD73-4203-A5A6-E62EB28B0FE6}" type="datetimeFigureOut">
              <a:rPr lang="en-US" smtClean="0"/>
              <a:t>4/23/2026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ED4301A-D375-4163-9488-27A9CDC6FD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6EED6105-4A37-4D4B-9BE8-715FB732C9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37F8FC-4B86-4690-8888-22AB2F781BE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0561639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D13007F-6649-4D23-8869-C1CC29D0096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88B85A1-41F9-4BC1-9C40-3E5D5C0425B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D41BCC-AD73-4203-A5A6-E62EB28B0FE6}" type="datetimeFigureOut">
              <a:rPr lang="en-US" smtClean="0"/>
              <a:t>4/23/2026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7B23774-EAA9-47ED-87EF-EE2B29A2580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2526550-DD4D-45E2-8916-8314C5D068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37F8FC-4B86-4690-8888-22AB2F781BE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6667227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1B35FACD-1A4D-49F3-8EA8-21B5C1A6A2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D41BCC-AD73-4203-A5A6-E62EB28B0FE6}" type="datetimeFigureOut">
              <a:rPr lang="en-US" smtClean="0"/>
              <a:t>4/23/2026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4FFD9DD-0E4E-4C36-AF85-B3EAD7FE613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6E6F4C8-14FA-4405-85EE-ABF53FB037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37F8FC-4B86-4690-8888-22AB2F781BE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1460417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8E7C28-5DEE-493D-ABAD-38E4F2D7592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25621" y="1085481"/>
            <a:ext cx="3651180" cy="1657719"/>
          </a:xfrm>
        </p:spPr>
        <p:txBody>
          <a:bodyPr anchor="t"/>
          <a:lstStyle>
            <a:lvl1pPr>
              <a:defRPr sz="32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A5E79C5-E567-4F12-96B8-8BBEAE3D8B9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676900" y="1132676"/>
            <a:ext cx="5289480" cy="4728374"/>
          </a:xfrm>
        </p:spPr>
        <p:txBody>
          <a:bodyPr/>
          <a:lstStyle>
            <a:lvl1pPr>
              <a:lnSpc>
                <a:spcPct val="110000"/>
              </a:lnSpc>
              <a:defRPr sz="3200"/>
            </a:lvl1pPr>
            <a:lvl2pPr>
              <a:lnSpc>
                <a:spcPct val="110000"/>
              </a:lnSpc>
              <a:defRPr sz="2800"/>
            </a:lvl2pPr>
            <a:lvl3pPr>
              <a:lnSpc>
                <a:spcPct val="110000"/>
              </a:lnSpc>
              <a:defRPr sz="2400"/>
            </a:lvl3pPr>
            <a:lvl4pPr>
              <a:lnSpc>
                <a:spcPct val="110000"/>
              </a:lnSpc>
              <a:defRPr sz="2000"/>
            </a:lvl4pPr>
            <a:lvl5pPr>
              <a:lnSpc>
                <a:spcPct val="110000"/>
              </a:lnSpc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733DF7F-0B5C-40CE-A65F-779FA7EFBF1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1225621" y="2748406"/>
            <a:ext cx="3651180" cy="3112644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022248C-1826-4833-9592-383B5873AEC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D41BCC-AD73-4203-A5A6-E62EB28B0FE6}" type="datetimeFigureOut">
              <a:rPr lang="en-US" smtClean="0"/>
              <a:t>4/23/2026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80219DC-2646-42AD-897A-EB765DCBEF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AF238D7-4EEA-475B-B1CA-C44B89BEA3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37F8FC-4B86-4690-8888-22AB2F781BE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833117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DD65BE-C907-4660-A586-71C6A1D101E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19200" y="1085481"/>
            <a:ext cx="3657600" cy="1657719"/>
          </a:xfrm>
        </p:spPr>
        <p:txBody>
          <a:bodyPr anchor="t"/>
          <a:lstStyle>
            <a:lvl1pPr>
              <a:defRPr sz="32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A044C8A9-67DF-419C-B2FC-3A879CCEF39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676900" y="1061885"/>
            <a:ext cx="5331069" cy="4775569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EDA94A1-3058-402A-9C3F-2F210D91D99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1219200" y="2748406"/>
            <a:ext cx="3657600" cy="3112644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BC3CA50-C8D8-4F83-B2F6-BCE82586640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D41BCC-AD73-4203-A5A6-E62EB28B0FE6}" type="datetimeFigureOut">
              <a:rPr lang="en-US" smtClean="0"/>
              <a:t>4/23/2026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57E5BE3-7B02-4281-BD90-C1FAAF6368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2FE256D-ACD5-438F-BA6F-605E5260E2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37F8FC-4B86-4690-8888-22AB2F781BE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2409779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EAD0E6-AD36-493C-9DC3-5ACC2059EC9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38299" y="685800"/>
            <a:ext cx="8915402" cy="137160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10B8558-FA83-4F6C-A6D1-2DF9D3F74BD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1638299" y="2057399"/>
            <a:ext cx="8915401" cy="4114801"/>
          </a:xfrm>
        </p:spPr>
        <p:txBody>
          <a:bodyPr vert="eaVert"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B6DE619-0CC6-4480-ABDE-277D36BDFCB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D41BCC-AD73-4203-A5A6-E62EB28B0FE6}" type="datetimeFigureOut">
              <a:rPr lang="en-US" smtClean="0"/>
              <a:t>4/23/2026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40791E6-BE35-4ECA-8AD1-E8EC09B856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1F94606-B928-42D6-85CC-9576F60E3B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37F8FC-4B86-4690-8888-22AB2F781BE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0084373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D7F18D8A-5002-491C-922A-E9624E2DBD6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65882C6-2BE9-4E25-B8BB-A2346A2B0B6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C7BEFF9-B3BC-4C07-BF6C-2E3C91B54B7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D41BCC-AD73-4203-A5A6-E62EB28B0FE6}" type="datetimeFigureOut">
              <a:rPr lang="en-US" smtClean="0"/>
              <a:t>4/23/2026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E0F4CF6-CDF1-4AFD-8319-71FD4FED4F8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E01A026-57F4-47F7-B4F0-E0D48E0126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37F8FC-4B86-4690-8888-22AB2F781BE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2137844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7F31A689-589E-4A73-9313-EF44F7E4E6B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38299" y="685800"/>
            <a:ext cx="8915402" cy="13716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B2B11B8-9E77-4144-B9C1-FD164D9A11A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638300" y="2057400"/>
            <a:ext cx="8915402" cy="413725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D06E4CC-CF79-4C8D-9E5F-1BB517435A6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 rot="5400000">
            <a:off x="-1001475" y="1517536"/>
            <a:ext cx="280112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800" cap="all" spc="100" baseline="0">
                <a:solidFill>
                  <a:schemeClr val="tx1"/>
                </a:solidFill>
              </a:defRPr>
            </a:lvl1pPr>
          </a:lstStyle>
          <a:p>
            <a:fld id="{B6D41BCC-AD73-4203-A5A6-E62EB28B0FE6}" type="datetimeFigureOut">
              <a:rPr lang="en-US" smtClean="0"/>
              <a:pPr/>
              <a:t>4/23/2026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3D79449-05F6-4BC7-95DF-F04E1F16149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 rot="5400000">
            <a:off x="10118764" y="4237870"/>
            <a:ext cx="334405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800" cap="all" spc="100" baseline="0">
                <a:solidFill>
                  <a:schemeClr val="tx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9317FE5-2D1F-4ECC-9460-08145C3BB93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228877" y="6319138"/>
            <a:ext cx="71064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800" cap="all" spc="100" baseline="0">
                <a:solidFill>
                  <a:schemeClr val="tx1"/>
                </a:solidFill>
              </a:defRPr>
            </a:lvl1pPr>
          </a:lstStyle>
          <a:p>
            <a:fld id="{D637F8FC-4B86-4690-8888-22AB2F781BE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535455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7" r:id="rId1"/>
    <p:sldLayoutId id="2147483708" r:id="rId2"/>
    <p:sldLayoutId id="2147483709" r:id="rId3"/>
    <p:sldLayoutId id="2147483710" r:id="rId4"/>
    <p:sldLayoutId id="2147483711" r:id="rId5"/>
    <p:sldLayoutId id="2147483705" r:id="rId6"/>
    <p:sldLayoutId id="2147483701" r:id="rId7"/>
    <p:sldLayoutId id="2147483702" r:id="rId8"/>
    <p:sldLayoutId id="2147483703" r:id="rId9"/>
    <p:sldLayoutId id="2147483704" r:id="rId10"/>
    <p:sldLayoutId id="2147483706" r:id="rId11"/>
  </p:sldLayoutIdLst>
  <p:txStyles>
    <p:titleStyle>
      <a:lvl1pPr algn="l" defTabSz="914400" rtl="0" eaLnBrk="1" latinLnBrk="0" hangingPunct="1">
        <a:lnSpc>
          <a:spcPct val="100000"/>
        </a:lnSpc>
        <a:spcBef>
          <a:spcPct val="0"/>
        </a:spcBef>
        <a:buNone/>
        <a:defRPr sz="3200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50292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2pPr>
      <a:lvl3pPr marL="73152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100584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123444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hyperlink" Target="https://laoms.org/solidaridad-movimientos-revolucionarios/" TargetMode="External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4" Type="http://schemas.openxmlformats.org/officeDocument/2006/relationships/hyperlink" Target="https://en.wikipedia.org/wiki/Slave_trade" TargetMode="Externa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hyperlink" Target="https://lt.wikipedia.org/wiki/Pipiliai" TargetMode="External"/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hyperlink" Target="https://clozoy01.github.io/remix_past/" TargetMode="Externa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BE229233-9672-4675-99B7-6CBCEF1CD41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Picture 4" descr="A collage of people in different actions&#10;&#10;Description automatically generated">
            <a:extLst>
              <a:ext uri="{FF2B5EF4-FFF2-40B4-BE49-F238E27FC236}">
                <a16:creationId xmlns:a16="http://schemas.microsoft.com/office/drawing/2014/main" id="{3A99990C-46F9-79E1-1137-DA4DF5044CE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3"/>
              </a:ext>
            </a:extLst>
          </a:blip>
          <a:srcRect r="21899" b="-1"/>
          <a:stretch>
            <a:fillRect/>
          </a:stretch>
        </p:blipFill>
        <p:spPr>
          <a:xfrm>
            <a:off x="20" y="-2"/>
            <a:ext cx="8115280" cy="6858001"/>
          </a:xfrm>
          <a:prstGeom prst="rect">
            <a:avLst/>
          </a:prstGeom>
        </p:spPr>
      </p:pic>
      <p:sp>
        <p:nvSpPr>
          <p:cNvPr id="12" name="Rectangle 11">
            <a:extLst>
              <a:ext uri="{FF2B5EF4-FFF2-40B4-BE49-F238E27FC236}">
                <a16:creationId xmlns:a16="http://schemas.microsoft.com/office/drawing/2014/main" id="{EC5FF010-B53C-46BE-BEEF-AF926A00F67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238500" y="2057400"/>
            <a:ext cx="4876800" cy="2743201"/>
          </a:xfrm>
          <a:prstGeom prst="rect">
            <a:avLst/>
          </a:prstGeom>
          <a:solidFill>
            <a:schemeClr val="bg1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8509AD9C-1F43-4138-A72B-8CA988EDD47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115300" y="2057400"/>
            <a:ext cx="3276600" cy="2743201"/>
          </a:xfrm>
          <a:prstGeom prst="rect">
            <a:avLst/>
          </a:prstGeom>
          <a:solidFill>
            <a:schemeClr val="bg2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C4CF5ED-1F49-2C96-82FD-DB964E1FD71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038600" y="2502489"/>
            <a:ext cx="3314700" cy="1853023"/>
          </a:xfrm>
        </p:spPr>
        <p:txBody>
          <a:bodyPr anchor="ctr">
            <a:normAutofit/>
          </a:bodyPr>
          <a:lstStyle/>
          <a:p>
            <a:r>
              <a:rPr lang="en-US" sz="3200"/>
              <a:t>La Matanza and Erasure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9A56F6B-9086-2A46-0840-C04EB48C71C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660055" y="2502489"/>
            <a:ext cx="2289028" cy="1853023"/>
          </a:xfrm>
        </p:spPr>
        <p:txBody>
          <a:bodyPr anchor="ctr">
            <a:normAutofit/>
          </a:bodyPr>
          <a:lstStyle/>
          <a:p>
            <a:r>
              <a:rPr lang="en-US" sz="1600"/>
              <a:t>Carlos Lozoya</a:t>
            </a:r>
          </a:p>
        </p:txBody>
      </p:sp>
    </p:spTree>
    <p:extLst>
      <p:ext uri="{BB962C8B-B14F-4D97-AF65-F5344CB8AC3E}">
        <p14:creationId xmlns:p14="http://schemas.microsoft.com/office/powerpoint/2010/main" val="106801251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BD496F58-731B-4833-93F9-53192FC219D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195B3A3C-971D-4F24-9512-C9E4590CAD8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3804" y="-5040"/>
            <a:ext cx="7319004" cy="206244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A81C0F6-49EB-EE62-C60D-B2D32257E66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98173" y="403798"/>
            <a:ext cx="5678827" cy="1244765"/>
          </a:xfrm>
        </p:spPr>
        <p:txBody>
          <a:bodyPr>
            <a:normAutofit/>
          </a:bodyPr>
          <a:lstStyle/>
          <a:p>
            <a:r>
              <a:rPr lang="en-US" dirty="0"/>
              <a:t>Timeline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679A419-2BE3-EE43-2823-190AFC2231A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115300" y="685800"/>
            <a:ext cx="3274280" cy="5508859"/>
          </a:xfrm>
        </p:spPr>
        <p:txBody>
          <a:bodyPr>
            <a:normAutofit fontScale="92500" lnSpcReduction="20000"/>
          </a:bodyPr>
          <a:lstStyle/>
          <a:p>
            <a:endParaRPr lang="en-US" sz="1700" dirty="0"/>
          </a:p>
          <a:p>
            <a:r>
              <a:rPr lang="en-US" sz="1700" b="1" dirty="0"/>
              <a:t>Colonial Rule: Fifteenth Century </a:t>
            </a:r>
          </a:p>
          <a:p>
            <a:pPr lvl="1"/>
            <a:r>
              <a:rPr lang="en-US" sz="1700" dirty="0"/>
              <a:t>Spanish Colonizers, after killing a large population from smallpox, exploited indigenous people for agricultural use, mostly coffee production. Lasted until 1821</a:t>
            </a:r>
          </a:p>
          <a:p>
            <a:r>
              <a:rPr lang="en-US" sz="1700" b="1" dirty="0"/>
              <a:t>Post Rule: 1821-1900’s</a:t>
            </a:r>
          </a:p>
          <a:p>
            <a:pPr lvl="1"/>
            <a:r>
              <a:rPr lang="en-US" sz="1700" dirty="0"/>
              <a:t>Coffee remained a major part of economy. Laws for agriculture forced indigenous people off their land (approximately ¼ of arable land in El Salvador privatized by the government) </a:t>
            </a:r>
          </a:p>
          <a:p>
            <a:pPr marL="0" indent="0">
              <a:buNone/>
            </a:pPr>
            <a:endParaRPr lang="en-US" sz="1700" dirty="0"/>
          </a:p>
          <a:p>
            <a:pPr lvl="1"/>
            <a:endParaRPr lang="en-US" sz="1500" dirty="0"/>
          </a:p>
          <a:p>
            <a:pPr lvl="1"/>
            <a:endParaRPr lang="en-US" sz="1500" dirty="0"/>
          </a:p>
          <a:p>
            <a:pPr lvl="1"/>
            <a:endParaRPr lang="en-US" sz="1700" dirty="0"/>
          </a:p>
          <a:p>
            <a:pPr lvl="1"/>
            <a:endParaRPr lang="en-US" sz="1700" dirty="0"/>
          </a:p>
        </p:txBody>
      </p:sp>
      <p:pic>
        <p:nvPicPr>
          <p:cNvPr id="5" name="Picture 4" descr="A group of people working in a plantation&#10;&#10;Description automatically generated">
            <a:extLst>
              <a:ext uri="{FF2B5EF4-FFF2-40B4-BE49-F238E27FC236}">
                <a16:creationId xmlns:a16="http://schemas.microsoft.com/office/drawing/2014/main" id="{A53D7253-C4B3-4F0B-CE00-11C4AB77000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4"/>
              </a:ext>
            </a:extLst>
          </a:blip>
          <a:srcRect t="5545" r="-1" b="-1"/>
          <a:stretch>
            <a:fillRect/>
          </a:stretch>
        </p:blipFill>
        <p:spPr>
          <a:xfrm>
            <a:off x="20" y="2057400"/>
            <a:ext cx="7312859" cy="4800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6420876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Rectangle 21">
            <a:extLst>
              <a:ext uri="{FF2B5EF4-FFF2-40B4-BE49-F238E27FC236}">
                <a16:creationId xmlns:a16="http://schemas.microsoft.com/office/drawing/2014/main" id="{BD496F58-731B-4833-93F9-53192FC219D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195B3A3C-971D-4F24-9512-C9E4590CAD8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3804" y="-5040"/>
            <a:ext cx="7319004" cy="206244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BE28F3D-FCAE-1FC9-37DD-F8518403A55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98173" y="403798"/>
            <a:ext cx="5678827" cy="1244765"/>
          </a:xfrm>
        </p:spPr>
        <p:txBody>
          <a:bodyPr>
            <a:normAutofit/>
          </a:bodyPr>
          <a:lstStyle/>
          <a:p>
            <a:r>
              <a:rPr lang="en-US" dirty="0"/>
              <a:t> Demise of Indian ethnicity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A7D8744-8314-AB33-FE97-5A7435FB3EB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115300" y="685800"/>
            <a:ext cx="3274280" cy="5508859"/>
          </a:xfrm>
        </p:spPr>
        <p:txBody>
          <a:bodyPr>
            <a:normAutofit/>
          </a:bodyPr>
          <a:lstStyle/>
          <a:p>
            <a:pPr>
              <a:lnSpc>
                <a:spcPct val="110000"/>
              </a:lnSpc>
            </a:pPr>
            <a:r>
              <a:rPr lang="en-US" b="1" dirty="0"/>
              <a:t>La </a:t>
            </a:r>
            <a:r>
              <a:rPr lang="en-US" b="1" dirty="0" err="1"/>
              <a:t>Matanza</a:t>
            </a:r>
            <a:endParaRPr lang="en-US" b="1" dirty="0"/>
          </a:p>
          <a:p>
            <a:pPr lvl="1">
              <a:lnSpc>
                <a:spcPct val="110000"/>
              </a:lnSpc>
            </a:pPr>
            <a:r>
              <a:rPr lang="en-US" i="1" dirty="0"/>
              <a:t>Recounted</a:t>
            </a:r>
            <a:r>
              <a:rPr lang="en-US" i="1" u="sng" dirty="0"/>
              <a:t> </a:t>
            </a:r>
            <a:r>
              <a:rPr lang="en-US" dirty="0"/>
              <a:t>as a communist Party mostly composed of indigenous people, uprose in response to government control.</a:t>
            </a:r>
          </a:p>
          <a:p>
            <a:pPr lvl="1">
              <a:lnSpc>
                <a:spcPct val="110000"/>
              </a:lnSpc>
            </a:pPr>
            <a:r>
              <a:rPr lang="en-US" dirty="0"/>
              <a:t>In response the government, led by dictator General Martinez, targeted indigenous people and outlawed indigenous language and dress.</a:t>
            </a:r>
          </a:p>
          <a:p>
            <a:pPr lvl="1">
              <a:lnSpc>
                <a:spcPct val="110000"/>
              </a:lnSpc>
            </a:pPr>
            <a:r>
              <a:rPr lang="en-US" dirty="0"/>
              <a:t>indigenous people abandoned their identity in order to survive.</a:t>
            </a:r>
          </a:p>
          <a:p>
            <a:pPr lvl="1">
              <a:lnSpc>
                <a:spcPct val="110000"/>
              </a:lnSpc>
            </a:pPr>
            <a:r>
              <a:rPr lang="en-US" dirty="0"/>
              <a:t>Lost and unknown to the archive, Government stops looking for Indigenous history.</a:t>
            </a:r>
          </a:p>
        </p:txBody>
      </p:sp>
      <p:pic>
        <p:nvPicPr>
          <p:cNvPr id="5" name="Picture 4" descr="A group of people standing together&#10;&#10;Description automatically generated">
            <a:extLst>
              <a:ext uri="{FF2B5EF4-FFF2-40B4-BE49-F238E27FC236}">
                <a16:creationId xmlns:a16="http://schemas.microsoft.com/office/drawing/2014/main" id="{9DD02575-3A16-CA3F-7B3F-568F1B9455D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3"/>
              </a:ext>
            </a:extLst>
          </a:blip>
          <a:srcRect t="11455" r="-1" b="1249"/>
          <a:stretch>
            <a:fillRect/>
          </a:stretch>
        </p:blipFill>
        <p:spPr>
          <a:xfrm>
            <a:off x="20" y="2057400"/>
            <a:ext cx="7312859" cy="4800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9001777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ACDB497-08C6-E8DC-A21A-CB7299284EF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638300" y="598714"/>
            <a:ext cx="8915402" cy="5595945"/>
          </a:xfrm>
        </p:spPr>
        <p:txBody>
          <a:bodyPr/>
          <a:lstStyle/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		         </a:t>
            </a:r>
            <a:r>
              <a:rPr lang="en-US" dirty="0">
                <a:hlinkClick r:id="rId2"/>
              </a:rPr>
              <a:t>https://clozoy01.github.io/remix_past/</a:t>
            </a:r>
            <a:endParaRPr lang="en-US" dirty="0"/>
          </a:p>
          <a:p>
            <a:endParaRPr lang="en-US" dirty="0"/>
          </a:p>
          <a:p>
            <a:endParaRPr lang="en-US" dirty="0"/>
          </a:p>
        </p:txBody>
      </p:sp>
      <p:pic>
        <p:nvPicPr>
          <p:cNvPr id="5" name="Picture 4" descr="A qr code on a white background&#10;&#10;Description automatically generated">
            <a:extLst>
              <a:ext uri="{FF2B5EF4-FFF2-40B4-BE49-F238E27FC236}">
                <a16:creationId xmlns:a16="http://schemas.microsoft.com/office/drawing/2014/main" id="{BDCB7766-CD41-2E84-B89E-631B6DF5098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68940" y="1453054"/>
            <a:ext cx="4254119" cy="45409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53094928"/>
      </p:ext>
    </p:extLst>
  </p:cSld>
  <p:clrMapOvr>
    <a:masterClrMapping/>
  </p:clrMapOvr>
</p:sld>
</file>

<file path=ppt/theme/theme1.xml><?xml version="1.0" encoding="utf-8"?>
<a:theme xmlns:a="http://schemas.openxmlformats.org/drawingml/2006/main" name="EncaseVTI">
  <a:themeElements>
    <a:clrScheme name="Encase">
      <a:dk1>
        <a:sysClr val="windowText" lastClr="000000"/>
      </a:dk1>
      <a:lt1>
        <a:sysClr val="window" lastClr="FFFFFF"/>
      </a:lt1>
      <a:dk2>
        <a:srgbClr val="1E2121"/>
      </a:dk2>
      <a:lt2>
        <a:srgbClr val="EFECEB"/>
      </a:lt2>
      <a:accent1>
        <a:srgbClr val="717059"/>
      </a:accent1>
      <a:accent2>
        <a:srgbClr val="B9A17E"/>
      </a:accent2>
      <a:accent3>
        <a:srgbClr val="766752"/>
      </a:accent3>
      <a:accent4>
        <a:srgbClr val="A28578"/>
      </a:accent4>
      <a:accent5>
        <a:srgbClr val="6E736D"/>
      </a:accent5>
      <a:accent6>
        <a:srgbClr val="BE8366"/>
      </a:accent6>
      <a:hlink>
        <a:srgbClr val="B5714F"/>
      </a:hlink>
      <a:folHlink>
        <a:srgbClr val="7B6B4C"/>
      </a:folHlink>
    </a:clrScheme>
    <a:fontScheme name="Avenir">
      <a:majorFont>
        <a:latin typeface="Avenir Next LT Pro"/>
        <a:ea typeface=""/>
        <a:cs typeface=""/>
      </a:majorFont>
      <a:minorFont>
        <a:latin typeface="Avenir Next LT Pro Ligh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EncaseVTI" id="{C293990F-FDB3-4ED3-8175-FB79CE5A2A12}" vid="{A5662C19-271F-459F-B4ED-861A98237642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144</TotalTime>
  <Words>162</Words>
  <Application>Microsoft Office PowerPoint</Application>
  <PresentationFormat>Widescreen</PresentationFormat>
  <Paragraphs>21</Paragraphs>
  <Slides>4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9" baseType="lpstr">
      <vt:lpstr>Aptos</vt:lpstr>
      <vt:lpstr>Arial</vt:lpstr>
      <vt:lpstr>Avenir Next LT Pro</vt:lpstr>
      <vt:lpstr>Avenir Next LT Pro Light</vt:lpstr>
      <vt:lpstr>EncaseVTI</vt:lpstr>
      <vt:lpstr>La Matanza and Erasure</vt:lpstr>
      <vt:lpstr>Timeline</vt:lpstr>
      <vt:lpstr> Demise of Indian ethnicity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La Matanza and Erasure</dc:title>
  <dc:creator>Lozoya, Carlos</dc:creator>
  <cp:lastModifiedBy>Lozoya, Carlos</cp:lastModifiedBy>
  <cp:revision>1</cp:revision>
  <dcterms:created xsi:type="dcterms:W3CDTF">2026-04-23T02:57:06Z</dcterms:created>
  <dcterms:modified xsi:type="dcterms:W3CDTF">2026-04-23T15:49:45Z</dcterms:modified>
</cp:coreProperties>
</file>